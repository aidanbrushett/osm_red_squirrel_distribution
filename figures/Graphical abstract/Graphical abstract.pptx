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0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B57EA-87D2-4BA0-BEF0-4BE0952F69B6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B79B9-D1DB-4A85-9F8F-A2DAE47F544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2145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7A97-4E4E-4FAA-AF9E-F6002ED6B4C1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B68-51A4-4D32-A24D-7F4D196A98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460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7A97-4E4E-4FAA-AF9E-F6002ED6B4C1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B68-51A4-4D32-A24D-7F4D196A98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1502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7A97-4E4E-4FAA-AF9E-F6002ED6B4C1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B68-51A4-4D32-A24D-7F4D196A98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8062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7A97-4E4E-4FAA-AF9E-F6002ED6B4C1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B68-51A4-4D32-A24D-7F4D196A98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21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7A97-4E4E-4FAA-AF9E-F6002ED6B4C1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B68-51A4-4D32-A24D-7F4D196A98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8414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7A97-4E4E-4FAA-AF9E-F6002ED6B4C1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B68-51A4-4D32-A24D-7F4D196A98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608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7A97-4E4E-4FAA-AF9E-F6002ED6B4C1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B68-51A4-4D32-A24D-7F4D196A98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2625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7A97-4E4E-4FAA-AF9E-F6002ED6B4C1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B68-51A4-4D32-A24D-7F4D196A98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6316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7A97-4E4E-4FAA-AF9E-F6002ED6B4C1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B68-51A4-4D32-A24D-7F4D196A98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392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7A97-4E4E-4FAA-AF9E-F6002ED6B4C1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B68-51A4-4D32-A24D-7F4D196A98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6462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7A97-4E4E-4FAA-AF9E-F6002ED6B4C1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B68-51A4-4D32-A24D-7F4D196A98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0983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0C7A97-4E4E-4FAA-AF9E-F6002ED6B4C1}" type="datetimeFigureOut">
              <a:rPr lang="en-CA" smtClean="0"/>
              <a:t>2026-08-24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92CB68-51A4-4D32-A24D-7F4D196A98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8592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11" Type="http://schemas.openxmlformats.org/officeDocument/2006/relationships/image" Target="../media/image7.png"/><Relationship Id="rId5" Type="http://schemas.microsoft.com/office/2007/relationships/hdphoto" Target="../media/hdphoto2.wdp"/><Relationship Id="rId10" Type="http://schemas.openxmlformats.org/officeDocument/2006/relationships/image" Target="../media/image6.jpe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5" Type="http://schemas.microsoft.com/office/2007/relationships/hdphoto" Target="../media/hdphoto2.wdp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F47B65CF-B76A-A164-B45E-C510DA2C3D78}"/>
              </a:ext>
            </a:extLst>
          </p:cNvPr>
          <p:cNvSpPr/>
          <p:nvPr/>
        </p:nvSpPr>
        <p:spPr>
          <a:xfrm>
            <a:off x="224990" y="3532991"/>
            <a:ext cx="2607242" cy="2424629"/>
          </a:xfrm>
          <a:prstGeom prst="roundRect">
            <a:avLst>
              <a:gd name="adj" fmla="val 859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43697910-286B-D7F6-6079-18F6DC9C1DDE}"/>
              </a:ext>
            </a:extLst>
          </p:cNvPr>
          <p:cNvSpPr/>
          <p:nvPr/>
        </p:nvSpPr>
        <p:spPr>
          <a:xfrm>
            <a:off x="1523645" y="3889251"/>
            <a:ext cx="2798921" cy="2084459"/>
          </a:xfrm>
          <a:prstGeom prst="roundRect">
            <a:avLst>
              <a:gd name="adj" fmla="val 1067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8D8B4913-E4EE-86F0-69A0-062C4A7DF159}"/>
              </a:ext>
            </a:extLst>
          </p:cNvPr>
          <p:cNvSpPr/>
          <p:nvPr/>
        </p:nvSpPr>
        <p:spPr>
          <a:xfrm>
            <a:off x="224990" y="1004368"/>
            <a:ext cx="2598782" cy="2424629"/>
          </a:xfrm>
          <a:prstGeom prst="roundRect">
            <a:avLst>
              <a:gd name="adj" fmla="val 859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5D0E21D1-7D86-6394-5407-91E4ADAB9479}"/>
              </a:ext>
            </a:extLst>
          </p:cNvPr>
          <p:cNvSpPr/>
          <p:nvPr/>
        </p:nvSpPr>
        <p:spPr>
          <a:xfrm>
            <a:off x="4578604" y="1614491"/>
            <a:ext cx="3919736" cy="4355460"/>
          </a:xfrm>
          <a:prstGeom prst="roundRect">
            <a:avLst>
              <a:gd name="adj" fmla="val 453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97B06CEE-4D04-D892-CA29-F2443E81FA57}"/>
              </a:ext>
            </a:extLst>
          </p:cNvPr>
          <p:cNvSpPr/>
          <p:nvPr/>
        </p:nvSpPr>
        <p:spPr>
          <a:xfrm>
            <a:off x="3008206" y="2460480"/>
            <a:ext cx="1331594" cy="137698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98310829-C32E-A47C-942D-CE1847464F92}"/>
              </a:ext>
            </a:extLst>
          </p:cNvPr>
          <p:cNvSpPr/>
          <p:nvPr/>
        </p:nvSpPr>
        <p:spPr>
          <a:xfrm>
            <a:off x="3008206" y="979354"/>
            <a:ext cx="1331594" cy="140024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8" name="Google Shape;283;p39">
            <a:extLst>
              <a:ext uri="{FF2B5EF4-FFF2-40B4-BE49-F238E27FC236}">
                <a16:creationId xmlns:a16="http://schemas.microsoft.com/office/drawing/2014/main" id="{6C2BE99B-AAFA-A76C-AFD1-C7D78B7D9D37}"/>
              </a:ext>
            </a:extLst>
          </p:cNvPr>
          <p:cNvPicPr preferRelativeResize="0"/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73" b="90148" l="8552" r="93294">
                        <a14:foregroundMark x1="13800" y1="63251" x2="29640" y2="24039"/>
                        <a14:foregroundMark x1="29640" y1="24039" x2="75024" y2="26010"/>
                        <a14:foregroundMark x1="75024" y1="26010" x2="76676" y2="75567"/>
                        <a14:foregroundMark x1="76676" y1="75567" x2="46842" y2="85911"/>
                        <a14:foregroundMark x1="46842" y1="85911" x2="40525" y2="81182"/>
                        <a14:foregroundMark x1="33528" y1="76946" x2="23032" y2="23842"/>
                        <a14:foregroundMark x1="23032" y1="23842" x2="49077" y2="41970"/>
                        <a14:foregroundMark x1="49077" y1="70936" x2="49077" y2="39704"/>
                        <a14:foregroundMark x1="49077" y1="39704" x2="49077" y2="39704"/>
                        <a14:foregroundMark x1="39845" y1="51527" x2="42371" y2="69754"/>
                        <a14:foregroundMark x1="24976" y1="24926" x2="21672" y2="56059"/>
                        <a14:foregroundMark x1="21672" y1="56059" x2="22741" y2="58719"/>
                        <a14:foregroundMark x1="12342" y1="35567" x2="23032" y2="71330"/>
                        <a14:foregroundMark x1="23032" y1="71330" x2="33139" y2="81872"/>
                        <a14:foregroundMark x1="33139" y1="81872" x2="74247" y2="78325"/>
                        <a14:foregroundMark x1="74247" y1="78325" x2="76190" y2="76946"/>
                        <a14:foregroundMark x1="79592" y1="71232" x2="83285" y2="45025"/>
                        <a14:foregroundMark x1="85131" y1="40887" x2="86200" y2="65616"/>
                        <a14:foregroundMark x1="84354" y1="67488" x2="75802" y2="20296"/>
                        <a14:foregroundMark x1="69485" y1="17340" x2="44606" y2="45419"/>
                        <a14:foregroundMark x1="44606" y1="45419" x2="44218" y2="47291"/>
                        <a14:foregroundMark x1="45384" y1="53005" x2="69485" y2="81576"/>
                        <a14:foregroundMark x1="74733" y1="77734" x2="63557" y2="35567"/>
                        <a14:foregroundMark x1="60253" y1="33990" x2="49466" y2="38227"/>
                        <a14:foregroundMark x1="42760" y1="44335" x2="31293" y2="82266"/>
                        <a14:foregroundMark x1="31293" y1="82266" x2="31293" y2="83054"/>
                        <a14:foregroundMark x1="35374" y1="83054" x2="53936" y2="85714"/>
                        <a14:foregroundMark x1="56171" y1="87980" x2="71720" y2="83448"/>
                        <a14:foregroundMark x1="66181" y1="87586" x2="80272" y2="73892"/>
                        <a14:foregroundMark x1="81438" y1="73596" x2="88338" y2="45419"/>
                        <a14:foregroundMark x1="88338" y1="45419" x2="68707" y2="15961"/>
                        <a14:foregroundMark x1="68707" y1="15961" x2="37415" y2="11823"/>
                        <a14:foregroundMark x1="37415" y1="11823" x2="37221" y2="12020"/>
                        <a14:foregroundMark x1="41302" y1="11232" x2="56560" y2="9655"/>
                        <a14:foregroundMark x1="12634" y1="37438" x2="13022" y2="60985"/>
                        <a14:foregroundMark x1="11953" y1="52315" x2="10787" y2="38916"/>
                        <a14:foregroundMark x1="11176" y1="45813" x2="20408" y2="77241"/>
                        <a14:foregroundMark x1="20408" y1="77241" x2="47036" y2="89754"/>
                        <a14:foregroundMark x1="47036" y1="89754" x2="52089" y2="90246"/>
                        <a14:foregroundMark x1="39845" y1="46601" x2="68610" y2="61182"/>
                        <a14:foregroundMark x1="68610" y1="61182" x2="67250" y2="62167"/>
                        <a14:foregroundMark x1="62877" y1="56453" x2="52089" y2="33990"/>
                        <a14:foregroundMark x1="52089" y1="33990" x2="33528" y2="52611"/>
                        <a14:foregroundMark x1="37609" y1="64828" x2="29738" y2="27980"/>
                        <a14:foregroundMark x1="17493" y1="33990" x2="38095" y2="12118"/>
                        <a14:foregroundMark x1="38095" y1="12118" x2="39456" y2="11626"/>
                        <a14:foregroundMark x1="36054" y1="13103" x2="17493" y2="31724"/>
                        <a14:foregroundMark x1="20117" y1="27192" x2="29057" y2="18030"/>
                        <a14:foregroundMark x1="30126" y1="13103" x2="25267" y2="20690"/>
                        <a14:foregroundMark x1="48299" y1="8571" x2="53547" y2="9655"/>
                        <a14:foregroundMark x1="71040" y1="15764" x2="88047" y2="50739"/>
                        <a14:foregroundMark x1="88047" y1="50739" x2="84742" y2="69360"/>
                        <a14:foregroundMark x1="69193" y1="64039" x2="70651" y2="42759"/>
                        <a14:foregroundMark x1="49077" y1="59113" x2="38290" y2="73202"/>
                        <a14:foregroundMark x1="38678" y1="73596" x2="70262" y2="69754"/>
                        <a14:foregroundMark x1="88144" y1="62562" x2="89990" y2="45419"/>
                        <a14:foregroundMark x1="69874" y1="15369" x2="88824" y2="37537"/>
                        <a14:foregroundMark x1="88824" y1="37537" x2="89990" y2="41281"/>
                        <a14:foregroundMark x1="79592" y1="21872" x2="81050" y2="24532"/>
                        <a14:foregroundMark x1="72886" y1="15764" x2="86589" y2="31724"/>
                        <a14:foregroundMark x1="75510" y1="16946" x2="86589" y2="30246"/>
                        <a14:foregroundMark x1="90282" y1="40887" x2="91059" y2="56059"/>
                        <a14:foregroundMark x1="22741" y1="16552" x2="23810" y2="16552"/>
                        <a14:foregroundMark x1="14869" y1="26010" x2="16424" y2="24532"/>
                        <a14:foregroundMark x1="80272" y1="79606" x2="81050" y2="78128"/>
                        <a14:foregroundMark x1="11565" y1="65911" x2="11565" y2="65911"/>
                        <a14:foregroundMark x1="9329" y1="57931" x2="8552" y2="56059"/>
                        <a14:foregroundMark x1="61322" y1="60296" x2="61710" y2="66305"/>
                        <a14:foregroundMark x1="78037" y1="47685" x2="81438" y2="62562"/>
                        <a14:foregroundMark x1="81827" y1="59113" x2="90282" y2="42365"/>
                        <a14:foregroundMark x1="81050" y1="50739" x2="81050" y2="54975"/>
                        <a14:foregroundMark x1="48008" y1="39310" x2="48299" y2="59113"/>
                        <a14:foregroundMark x1="49854" y1="46207" x2="58406" y2="51133"/>
                        <a14:foregroundMark x1="54325" y1="47685" x2="55394" y2="55271"/>
                        <a14:foregroundMark x1="79592" y1="19212" x2="82896" y2="22266"/>
                        <a14:foregroundMark x1="91059" y1="41970" x2="93294" y2="450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7248" t="5455" r="6025" b="6372"/>
          <a:stretch>
            <a:fillRect/>
          </a:stretch>
        </p:blipFill>
        <p:spPr>
          <a:xfrm>
            <a:off x="3036119" y="2649178"/>
            <a:ext cx="1227043" cy="120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284;p39">
            <a:extLst>
              <a:ext uri="{FF2B5EF4-FFF2-40B4-BE49-F238E27FC236}">
                <a16:creationId xmlns:a16="http://schemas.microsoft.com/office/drawing/2014/main" id="{77FCA617-09C2-1CE2-6DAF-47CE2B58CD96}"/>
              </a:ext>
            </a:extLst>
          </p:cNvPr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47" b="89800" l="10009" r="84346">
                        <a14:foregroundMark x1="15227" y1="49571" x2="43541" y2="22784"/>
                        <a14:foregroundMark x1="43541" y1="22784" x2="71685" y2="56530"/>
                        <a14:foregroundMark x1="71685" y1="56530" x2="41574" y2="78932"/>
                        <a14:foregroundMark x1="41574" y1="78932" x2="30539" y2="65300"/>
                        <a14:foregroundMark x1="15227" y1="40419" x2="13944" y2="51764"/>
                        <a14:foregroundMark x1="21044" y1="66444" x2="53807" y2="63966"/>
                        <a14:foregroundMark x1="53807" y1="63966" x2="77502" y2="47760"/>
                        <a14:foregroundMark x1="77502" y1="47760" x2="63302" y2="14490"/>
                        <a14:foregroundMark x1="63302" y1="14490" x2="49016" y2="10677"/>
                        <a14:foregroundMark x1="67579" y1="23928" x2="80411" y2="52050"/>
                        <a14:foregroundMark x1="80411" y1="52050" x2="78272" y2="64919"/>
                        <a14:foregroundMark x1="82806" y1="51764" x2="84431" y2="43661"/>
                        <a14:foregroundMark x1="42857" y1="9247" x2="52267" y2="10010"/>
                        <a14:foregroundMark x1="11634" y1="49190" x2="10009" y2="462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9926" r="14210"/>
          <a:stretch>
            <a:fillRect/>
          </a:stretch>
        </p:blipFill>
        <p:spPr>
          <a:xfrm>
            <a:off x="3066065" y="1096147"/>
            <a:ext cx="1227043" cy="1400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Picture 31" descr="An aerial view of a green field&#10;&#10;AI-generated content may be incorrect.">
            <a:extLst>
              <a:ext uri="{FF2B5EF4-FFF2-40B4-BE49-F238E27FC236}">
                <a16:creationId xmlns:a16="http://schemas.microsoft.com/office/drawing/2014/main" id="{1D1C09A2-2E0C-20FB-889C-CD03DED6FD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0"/>
          <a:stretch>
            <a:fillRect/>
          </a:stretch>
        </p:blipFill>
        <p:spPr>
          <a:xfrm>
            <a:off x="287704" y="1464405"/>
            <a:ext cx="2481815" cy="1861361"/>
          </a:xfrm>
          <a:prstGeom prst="rect">
            <a:avLst/>
          </a:prstGeom>
        </p:spPr>
      </p:pic>
      <p:pic>
        <p:nvPicPr>
          <p:cNvPr id="34" name="Picture 8">
            <a:extLst>
              <a:ext uri="{FF2B5EF4-FFF2-40B4-BE49-F238E27FC236}">
                <a16:creationId xmlns:a16="http://schemas.microsoft.com/office/drawing/2014/main" id="{7538D082-1CBA-B810-9A7B-5E6AE75BB0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46" b="99462" l="0" r="97535">
                        <a14:foregroundMark x1="36518" y1="21421" x2="35131" y2="5382"/>
                        <a14:foregroundMark x1="35131" y1="5382" x2="35131" y2="5382"/>
                        <a14:foregroundMark x1="36210" y1="4629" x2="38367" y2="753"/>
                        <a14:foregroundMark x1="46841" y1="35307" x2="48074" y2="35307"/>
                        <a14:foregroundMark x1="48844" y1="35307" x2="49769" y2="35307"/>
                        <a14:foregroundMark x1="49615" y1="47363" x2="50231" y2="47363"/>
                        <a14:foregroundMark x1="50385" y1="35307" x2="50385" y2="35307"/>
                        <a14:foregroundMark x1="21572" y1="41873" x2="21572" y2="42734"/>
                        <a14:foregroundMark x1="22188" y1="41765" x2="22188" y2="41765"/>
                        <a14:foregroundMark x1="21109" y1="44456" x2="21109" y2="44456"/>
                        <a14:foregroundMark x1="20801" y1="43918" x2="20801" y2="43918"/>
                        <a14:foregroundMark x1="20801" y1="43380" x2="20801" y2="43380"/>
                        <a14:foregroundMark x1="20801" y1="43057" x2="20801" y2="43057"/>
                        <a14:foregroundMark x1="20955" y1="44456" x2="20955" y2="44456"/>
                        <a14:foregroundMark x1="26348" y1="93757" x2="32666" y2="94080"/>
                        <a14:foregroundMark x1="27427" y1="86652" x2="30971" y2="49516"/>
                        <a14:foregroundMark x1="4931" y1="94618" x2="79815" y2="95479"/>
                        <a14:foregroundMark x1="79815" y1="95479" x2="97997" y2="95371"/>
                        <a14:foregroundMark x1="3852" y1="98278" x2="64561" y2="99677"/>
                        <a14:foregroundMark x1="0" y1="96233" x2="8937" y2="96340"/>
                        <a14:foregroundMark x1="40062" y1="87513" x2="56549" y2="89559"/>
                        <a14:foregroundMark x1="79661" y1="88805" x2="89060" y2="88052"/>
                        <a14:backgroundMark x1="8320" y1="21313" x2="15408" y2="41658"/>
                        <a14:backgroundMark x1="15408" y1="41658" x2="15408" y2="41873"/>
                        <a14:backgroundMark x1="53313" y1="15823" x2="72419" y2="496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37186" y="3971388"/>
            <a:ext cx="1309034" cy="1875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Google Shape;259;p37">
            <a:extLst>
              <a:ext uri="{FF2B5EF4-FFF2-40B4-BE49-F238E27FC236}">
                <a16:creationId xmlns:a16="http://schemas.microsoft.com/office/drawing/2014/main" id="{04BE9996-CBAF-8186-DA6E-A0EAAA4A140C}"/>
              </a:ext>
            </a:extLst>
          </p:cNvPr>
          <p:cNvSpPr/>
          <p:nvPr/>
        </p:nvSpPr>
        <p:spPr>
          <a:xfrm rot="16200000">
            <a:off x="342427" y="4570945"/>
            <a:ext cx="1875058" cy="675941"/>
          </a:xfrm>
          <a:prstGeom prst="triangle">
            <a:avLst>
              <a:gd name="adj" fmla="val 61394"/>
            </a:avLst>
          </a:prstGeom>
          <a:gradFill>
            <a:gsLst>
              <a:gs pos="0">
                <a:srgbClr val="7F7F7F">
                  <a:alpha val="29803"/>
                </a:srgbClr>
              </a:gs>
              <a:gs pos="37000">
                <a:srgbClr val="D0D0D0">
                  <a:alpha val="49803"/>
                </a:srgbClr>
              </a:gs>
              <a:gs pos="79000">
                <a:srgbClr val="FFFFFF">
                  <a:alpha val="49803"/>
                </a:srgbClr>
              </a:gs>
              <a:gs pos="100000">
                <a:srgbClr val="FFFFFF">
                  <a:alpha val="4980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endParaRPr sz="1050">
              <a:solidFill>
                <a:schemeClr val="lt1"/>
              </a:solidFill>
              <a:latin typeface="Helvetica" panose="020B0604020202020204" pitchFamily="34" charset="0"/>
              <a:ea typeface="Arial"/>
              <a:cs typeface="Helvetica" panose="020B0604020202020204" pitchFamily="34" charset="0"/>
              <a:sym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83A087-ECF6-26DC-A056-30920B114CF6}"/>
              </a:ext>
            </a:extLst>
          </p:cNvPr>
          <p:cNvSpPr txBox="1"/>
          <p:nvPr/>
        </p:nvSpPr>
        <p:spPr>
          <a:xfrm>
            <a:off x="391349" y="1004368"/>
            <a:ext cx="241100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350" dirty="0">
                <a:latin typeface="Helvetica" panose="020B0604020202020204" pitchFamily="34" charset="0"/>
                <a:cs typeface="Helvetica" panose="020B0604020202020204" pitchFamily="34" charset="0"/>
              </a:rPr>
              <a:t>Oil &amp; gas development changes landscape structure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6B2179-3848-51A5-22BA-03F88F7B2FD3}"/>
              </a:ext>
            </a:extLst>
          </p:cNvPr>
          <p:cNvSpPr txBox="1"/>
          <p:nvPr/>
        </p:nvSpPr>
        <p:spPr>
          <a:xfrm>
            <a:off x="341343" y="3504416"/>
            <a:ext cx="274692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350" dirty="0">
                <a:latin typeface="Helvetica" panose="020B0604020202020204" pitchFamily="34" charset="0"/>
                <a:cs typeface="Helvetica" panose="020B0604020202020204" pitchFamily="34" charset="0"/>
              </a:rPr>
              <a:t>Red squirrel occurrence measured with camera traps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2487AF-E95E-FDF4-C799-34A383C37355}"/>
              </a:ext>
            </a:extLst>
          </p:cNvPr>
          <p:cNvSpPr txBox="1"/>
          <p:nvPr/>
        </p:nvSpPr>
        <p:spPr>
          <a:xfrm>
            <a:off x="5483195" y="1191413"/>
            <a:ext cx="168317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350" dirty="0">
                <a:latin typeface="Helvetica" panose="020B0604020202020204" pitchFamily="34" charset="0"/>
                <a:cs typeface="Helvetica" panose="020B0604020202020204" pitchFamily="34" charset="0"/>
              </a:rPr>
              <a:t>   Model selection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3F7060-09B3-A621-5519-E0CA6F074432}"/>
              </a:ext>
            </a:extLst>
          </p:cNvPr>
          <p:cNvSpPr txBox="1"/>
          <p:nvPr/>
        </p:nvSpPr>
        <p:spPr>
          <a:xfrm>
            <a:off x="6538471" y="4279201"/>
            <a:ext cx="21269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Helvetica" panose="020B0604020202020204" pitchFamily="34" charset="0"/>
                <a:cs typeface="Helvetica" panose="020B0604020202020204" pitchFamily="34" charset="0"/>
              </a:rPr>
              <a:t>Red squirrels are affected differently by industrial footprint and edge creation, likely due to: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CA" sz="1200" dirty="0">
                <a:latin typeface="Helvetica" panose="020B0604020202020204" pitchFamily="34" charset="0"/>
                <a:cs typeface="Helvetica" panose="020B0604020202020204" pitchFamily="34" charset="0"/>
              </a:rPr>
              <a:t>predation (-)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CA" sz="1200" dirty="0">
                <a:latin typeface="Helvetica" panose="020B0604020202020204" pitchFamily="34" charset="0"/>
                <a:cs typeface="Helvetica" panose="020B0604020202020204" pitchFamily="34" charset="0"/>
              </a:rPr>
              <a:t>resource complementation (+)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6BA884B9-719C-F37E-BC9E-70E5628302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62434" y="1679476"/>
            <a:ext cx="3618665" cy="2433257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C6A723A-963E-FF7A-E147-63BE67C6D68C}"/>
              </a:ext>
            </a:extLst>
          </p:cNvPr>
          <p:cNvCxnSpPr>
            <a:cxnSpLocks/>
            <a:stCxn id="124" idx="3"/>
          </p:cNvCxnSpPr>
          <p:nvPr/>
        </p:nvCxnSpPr>
        <p:spPr>
          <a:xfrm flipV="1">
            <a:off x="4339800" y="3148974"/>
            <a:ext cx="151334" cy="1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49F6EE3-F5F7-BC90-FDCC-33E3B50F890A}"/>
              </a:ext>
            </a:extLst>
          </p:cNvPr>
          <p:cNvCxnSpPr>
            <a:cxnSpLocks/>
            <a:stCxn id="115" idx="3"/>
          </p:cNvCxnSpPr>
          <p:nvPr/>
        </p:nvCxnSpPr>
        <p:spPr>
          <a:xfrm>
            <a:off x="4339799" y="1679476"/>
            <a:ext cx="158564" cy="0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C7F9820-6A71-FE46-A670-0FADC8E64518}"/>
              </a:ext>
            </a:extLst>
          </p:cNvPr>
          <p:cNvCxnSpPr>
            <a:cxnSpLocks/>
          </p:cNvCxnSpPr>
          <p:nvPr/>
        </p:nvCxnSpPr>
        <p:spPr>
          <a:xfrm>
            <a:off x="6275471" y="1417205"/>
            <a:ext cx="0" cy="207225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73C0E9F8-C041-D1DA-4C9D-6520977915FF}"/>
              </a:ext>
            </a:extLst>
          </p:cNvPr>
          <p:cNvSpPr txBox="1"/>
          <p:nvPr/>
        </p:nvSpPr>
        <p:spPr>
          <a:xfrm>
            <a:off x="3139626" y="2435880"/>
            <a:ext cx="1331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Composition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4EF51D3-47DB-74C5-0462-CEF71B9465EB}"/>
              </a:ext>
            </a:extLst>
          </p:cNvPr>
          <p:cNvSpPr txBox="1"/>
          <p:nvPr/>
        </p:nvSpPr>
        <p:spPr>
          <a:xfrm>
            <a:off x="3120766" y="943299"/>
            <a:ext cx="1331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Configuration</a:t>
            </a:r>
          </a:p>
        </p:txBody>
      </p:sp>
      <p:sp>
        <p:nvSpPr>
          <p:cNvPr id="99" name="Arrow: Bent 98">
            <a:extLst>
              <a:ext uri="{FF2B5EF4-FFF2-40B4-BE49-F238E27FC236}">
                <a16:creationId xmlns:a16="http://schemas.microsoft.com/office/drawing/2014/main" id="{86F83772-B185-FE63-9131-4268AE48CAC7}"/>
              </a:ext>
            </a:extLst>
          </p:cNvPr>
          <p:cNvSpPr/>
          <p:nvPr/>
        </p:nvSpPr>
        <p:spPr>
          <a:xfrm>
            <a:off x="4481743" y="1274920"/>
            <a:ext cx="1190341" cy="2994219"/>
          </a:xfrm>
          <a:prstGeom prst="bentArrow">
            <a:avLst>
              <a:gd name="adj1" fmla="val 1931"/>
              <a:gd name="adj2" fmla="val 4836"/>
              <a:gd name="adj3" fmla="val 10920"/>
              <a:gd name="adj4" fmla="val 24066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6" name="Arrow: Bent 105">
            <a:extLst>
              <a:ext uri="{FF2B5EF4-FFF2-40B4-BE49-F238E27FC236}">
                <a16:creationId xmlns:a16="http://schemas.microsoft.com/office/drawing/2014/main" id="{5D4A2B27-7C40-2416-BC4F-66114DA171D3}"/>
              </a:ext>
            </a:extLst>
          </p:cNvPr>
          <p:cNvSpPr/>
          <p:nvPr/>
        </p:nvSpPr>
        <p:spPr>
          <a:xfrm flipH="1" flipV="1">
            <a:off x="2800569" y="4239161"/>
            <a:ext cx="1702688" cy="1090863"/>
          </a:xfrm>
          <a:prstGeom prst="bentArrow">
            <a:avLst>
              <a:gd name="adj1" fmla="val 2194"/>
              <a:gd name="adj2" fmla="val 5255"/>
              <a:gd name="adj3" fmla="val 13768"/>
              <a:gd name="adj4" fmla="val 38146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6" name="Google Shape;261;p37" title="jump.JPG">
            <a:extLst>
              <a:ext uri="{FF2B5EF4-FFF2-40B4-BE49-F238E27FC236}">
                <a16:creationId xmlns:a16="http://schemas.microsoft.com/office/drawing/2014/main" id="{09B1AA82-03F3-EECC-8F00-BFE8CBFD3254}"/>
              </a:ext>
            </a:extLst>
          </p:cNvPr>
          <p:cNvPicPr preferRelativeResize="0"/>
          <p:nvPr/>
        </p:nvPicPr>
        <p:blipFill>
          <a:blip r:embed="rId10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852"/>
          <a:stretch>
            <a:fillRect/>
          </a:stretch>
        </p:blipFill>
        <p:spPr>
          <a:xfrm>
            <a:off x="1617923" y="3971388"/>
            <a:ext cx="2610365" cy="18750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Connector: Curved 107">
            <a:extLst>
              <a:ext uri="{FF2B5EF4-FFF2-40B4-BE49-F238E27FC236}">
                <a16:creationId xmlns:a16="http://schemas.microsoft.com/office/drawing/2014/main" id="{6FF43A66-680C-B195-FE08-173DA6CDC298}"/>
              </a:ext>
            </a:extLst>
          </p:cNvPr>
          <p:cNvCxnSpPr>
            <a:cxnSpLocks/>
            <a:stCxn id="32" idx="3"/>
            <a:endCxn id="115" idx="1"/>
          </p:cNvCxnSpPr>
          <p:nvPr/>
        </p:nvCxnSpPr>
        <p:spPr>
          <a:xfrm flipV="1">
            <a:off x="2769519" y="1679476"/>
            <a:ext cx="238687" cy="715610"/>
          </a:xfrm>
          <a:prstGeom prst="curvedConnector3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Curved 109">
            <a:extLst>
              <a:ext uri="{FF2B5EF4-FFF2-40B4-BE49-F238E27FC236}">
                <a16:creationId xmlns:a16="http://schemas.microsoft.com/office/drawing/2014/main" id="{444B2C3C-8E26-27C6-DF72-054EA84729AA}"/>
              </a:ext>
            </a:extLst>
          </p:cNvPr>
          <p:cNvCxnSpPr>
            <a:cxnSpLocks/>
            <a:stCxn id="32" idx="3"/>
            <a:endCxn id="124" idx="1"/>
          </p:cNvCxnSpPr>
          <p:nvPr/>
        </p:nvCxnSpPr>
        <p:spPr>
          <a:xfrm>
            <a:off x="2769519" y="2395086"/>
            <a:ext cx="238687" cy="753889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4" name="Picture 153">
            <a:extLst>
              <a:ext uri="{FF2B5EF4-FFF2-40B4-BE49-F238E27FC236}">
                <a16:creationId xmlns:a16="http://schemas.microsoft.com/office/drawing/2014/main" id="{B6FF10E6-3581-9DCA-35B7-48F123A3E0A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62434" y="4112733"/>
            <a:ext cx="1800505" cy="900247"/>
          </a:xfrm>
          <a:prstGeom prst="rect">
            <a:avLst/>
          </a:prstGeom>
        </p:spPr>
      </p:pic>
      <p:pic>
        <p:nvPicPr>
          <p:cNvPr id="155" name="Picture 154">
            <a:extLst>
              <a:ext uri="{FF2B5EF4-FFF2-40B4-BE49-F238E27FC236}">
                <a16:creationId xmlns:a16="http://schemas.microsoft.com/office/drawing/2014/main" id="{B9D4F24A-825A-A7FF-C338-FD760C2278C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455"/>
          <a:stretch>
            <a:fillRect/>
          </a:stretch>
        </p:blipFill>
        <p:spPr>
          <a:xfrm>
            <a:off x="4662434" y="4985378"/>
            <a:ext cx="1833943" cy="88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814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3FC85-60E5-E73B-6625-2A789E623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95BB5DE5-71C3-9938-6BA0-5BACD3747880}"/>
              </a:ext>
            </a:extLst>
          </p:cNvPr>
          <p:cNvSpPr/>
          <p:nvPr/>
        </p:nvSpPr>
        <p:spPr>
          <a:xfrm>
            <a:off x="224990" y="3532991"/>
            <a:ext cx="2607242" cy="2424629"/>
          </a:xfrm>
          <a:prstGeom prst="roundRect">
            <a:avLst>
              <a:gd name="adj" fmla="val 859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0F12BB10-9360-AA0A-5690-4B43A0C23B22}"/>
              </a:ext>
            </a:extLst>
          </p:cNvPr>
          <p:cNvSpPr/>
          <p:nvPr/>
        </p:nvSpPr>
        <p:spPr>
          <a:xfrm>
            <a:off x="1523645" y="3889251"/>
            <a:ext cx="2798921" cy="2084459"/>
          </a:xfrm>
          <a:prstGeom prst="roundRect">
            <a:avLst>
              <a:gd name="adj" fmla="val 1067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5B8F822E-50B4-67B0-B7C3-FED5C1A51C35}"/>
              </a:ext>
            </a:extLst>
          </p:cNvPr>
          <p:cNvSpPr/>
          <p:nvPr/>
        </p:nvSpPr>
        <p:spPr>
          <a:xfrm>
            <a:off x="224991" y="1004368"/>
            <a:ext cx="2575579" cy="2424629"/>
          </a:xfrm>
          <a:prstGeom prst="roundRect">
            <a:avLst>
              <a:gd name="adj" fmla="val 859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A615C57C-BE23-4F18-723D-DD963EDEFD09}"/>
              </a:ext>
            </a:extLst>
          </p:cNvPr>
          <p:cNvSpPr/>
          <p:nvPr/>
        </p:nvSpPr>
        <p:spPr>
          <a:xfrm>
            <a:off x="4716945" y="1551919"/>
            <a:ext cx="3919736" cy="4355460"/>
          </a:xfrm>
          <a:prstGeom prst="roundRect">
            <a:avLst>
              <a:gd name="adj" fmla="val 453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ACDBA160-59D8-FFE9-8E74-329C0EE94230}"/>
              </a:ext>
            </a:extLst>
          </p:cNvPr>
          <p:cNvSpPr/>
          <p:nvPr/>
        </p:nvSpPr>
        <p:spPr>
          <a:xfrm>
            <a:off x="3008206" y="2460480"/>
            <a:ext cx="1331594" cy="137698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13503AE-F812-2CC0-033D-EE3E3ABF417A}"/>
              </a:ext>
            </a:extLst>
          </p:cNvPr>
          <p:cNvSpPr/>
          <p:nvPr/>
        </p:nvSpPr>
        <p:spPr>
          <a:xfrm>
            <a:off x="3008206" y="979354"/>
            <a:ext cx="1331594" cy="140024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8" name="Google Shape;283;p39">
            <a:extLst>
              <a:ext uri="{FF2B5EF4-FFF2-40B4-BE49-F238E27FC236}">
                <a16:creationId xmlns:a16="http://schemas.microsoft.com/office/drawing/2014/main" id="{649C5560-70BF-7072-6748-980273F30DF7}"/>
              </a:ext>
            </a:extLst>
          </p:cNvPr>
          <p:cNvPicPr preferRelativeResize="0"/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73" b="90148" l="8552" r="93294">
                        <a14:foregroundMark x1="13800" y1="63251" x2="29640" y2="24039"/>
                        <a14:foregroundMark x1="29640" y1="24039" x2="75024" y2="26010"/>
                        <a14:foregroundMark x1="75024" y1="26010" x2="76676" y2="75567"/>
                        <a14:foregroundMark x1="76676" y1="75567" x2="46842" y2="85911"/>
                        <a14:foregroundMark x1="46842" y1="85911" x2="40525" y2="81182"/>
                        <a14:foregroundMark x1="33528" y1="76946" x2="23032" y2="23842"/>
                        <a14:foregroundMark x1="23032" y1="23842" x2="49077" y2="41970"/>
                        <a14:foregroundMark x1="49077" y1="70936" x2="49077" y2="39704"/>
                        <a14:foregroundMark x1="49077" y1="39704" x2="49077" y2="39704"/>
                        <a14:foregroundMark x1="39845" y1="51527" x2="42371" y2="69754"/>
                        <a14:foregroundMark x1="24976" y1="24926" x2="21672" y2="56059"/>
                        <a14:foregroundMark x1="21672" y1="56059" x2="22741" y2="58719"/>
                        <a14:foregroundMark x1="12342" y1="35567" x2="23032" y2="71330"/>
                        <a14:foregroundMark x1="23032" y1="71330" x2="33139" y2="81872"/>
                        <a14:foregroundMark x1="33139" y1="81872" x2="74247" y2="78325"/>
                        <a14:foregroundMark x1="74247" y1="78325" x2="76190" y2="76946"/>
                        <a14:foregroundMark x1="79592" y1="71232" x2="83285" y2="45025"/>
                        <a14:foregroundMark x1="85131" y1="40887" x2="86200" y2="65616"/>
                        <a14:foregroundMark x1="84354" y1="67488" x2="75802" y2="20296"/>
                        <a14:foregroundMark x1="69485" y1="17340" x2="44606" y2="45419"/>
                        <a14:foregroundMark x1="44606" y1="45419" x2="44218" y2="47291"/>
                        <a14:foregroundMark x1="45384" y1="53005" x2="69485" y2="81576"/>
                        <a14:foregroundMark x1="74733" y1="77734" x2="63557" y2="35567"/>
                        <a14:foregroundMark x1="60253" y1="33990" x2="49466" y2="38227"/>
                        <a14:foregroundMark x1="42760" y1="44335" x2="31293" y2="82266"/>
                        <a14:foregroundMark x1="31293" y1="82266" x2="31293" y2="83054"/>
                        <a14:foregroundMark x1="35374" y1="83054" x2="53936" y2="85714"/>
                        <a14:foregroundMark x1="56171" y1="87980" x2="71720" y2="83448"/>
                        <a14:foregroundMark x1="66181" y1="87586" x2="80272" y2="73892"/>
                        <a14:foregroundMark x1="81438" y1="73596" x2="88338" y2="45419"/>
                        <a14:foregroundMark x1="88338" y1="45419" x2="68707" y2="15961"/>
                        <a14:foregroundMark x1="68707" y1="15961" x2="37415" y2="11823"/>
                        <a14:foregroundMark x1="37415" y1="11823" x2="37221" y2="12020"/>
                        <a14:foregroundMark x1="41302" y1="11232" x2="56560" y2="9655"/>
                        <a14:foregroundMark x1="12634" y1="37438" x2="13022" y2="60985"/>
                        <a14:foregroundMark x1="11953" y1="52315" x2="10787" y2="38916"/>
                        <a14:foregroundMark x1="11176" y1="45813" x2="20408" y2="77241"/>
                        <a14:foregroundMark x1="20408" y1="77241" x2="47036" y2="89754"/>
                        <a14:foregroundMark x1="47036" y1="89754" x2="52089" y2="90246"/>
                        <a14:foregroundMark x1="39845" y1="46601" x2="68610" y2="61182"/>
                        <a14:foregroundMark x1="68610" y1="61182" x2="67250" y2="62167"/>
                        <a14:foregroundMark x1="62877" y1="56453" x2="52089" y2="33990"/>
                        <a14:foregroundMark x1="52089" y1="33990" x2="33528" y2="52611"/>
                        <a14:foregroundMark x1="37609" y1="64828" x2="29738" y2="27980"/>
                        <a14:foregroundMark x1="17493" y1="33990" x2="38095" y2="12118"/>
                        <a14:foregroundMark x1="38095" y1="12118" x2="39456" y2="11626"/>
                        <a14:foregroundMark x1="36054" y1="13103" x2="17493" y2="31724"/>
                        <a14:foregroundMark x1="20117" y1="27192" x2="29057" y2="18030"/>
                        <a14:foregroundMark x1="30126" y1="13103" x2="25267" y2="20690"/>
                        <a14:foregroundMark x1="48299" y1="8571" x2="53547" y2="9655"/>
                        <a14:foregroundMark x1="71040" y1="15764" x2="88047" y2="50739"/>
                        <a14:foregroundMark x1="88047" y1="50739" x2="84742" y2="69360"/>
                        <a14:foregroundMark x1="69193" y1="64039" x2="70651" y2="42759"/>
                        <a14:foregroundMark x1="49077" y1="59113" x2="38290" y2="73202"/>
                        <a14:foregroundMark x1="38678" y1="73596" x2="70262" y2="69754"/>
                        <a14:foregroundMark x1="88144" y1="62562" x2="89990" y2="45419"/>
                        <a14:foregroundMark x1="69874" y1="15369" x2="88824" y2="37537"/>
                        <a14:foregroundMark x1="88824" y1="37537" x2="89990" y2="41281"/>
                        <a14:foregroundMark x1="79592" y1="21872" x2="81050" y2="24532"/>
                        <a14:foregroundMark x1="72886" y1="15764" x2="86589" y2="31724"/>
                        <a14:foregroundMark x1="75510" y1="16946" x2="86589" y2="30246"/>
                        <a14:foregroundMark x1="90282" y1="40887" x2="91059" y2="56059"/>
                        <a14:foregroundMark x1="22741" y1="16552" x2="23810" y2="16552"/>
                        <a14:foregroundMark x1="14869" y1="26010" x2="16424" y2="24532"/>
                        <a14:foregroundMark x1="80272" y1="79606" x2="81050" y2="78128"/>
                        <a14:foregroundMark x1="11565" y1="65911" x2="11565" y2="65911"/>
                        <a14:foregroundMark x1="9329" y1="57931" x2="8552" y2="56059"/>
                        <a14:foregroundMark x1="61322" y1="60296" x2="61710" y2="66305"/>
                        <a14:foregroundMark x1="78037" y1="47685" x2="81438" y2="62562"/>
                        <a14:foregroundMark x1="81827" y1="59113" x2="90282" y2="42365"/>
                        <a14:foregroundMark x1="81050" y1="50739" x2="81050" y2="54975"/>
                        <a14:foregroundMark x1="48008" y1="39310" x2="48299" y2="59113"/>
                        <a14:foregroundMark x1="49854" y1="46207" x2="58406" y2="51133"/>
                        <a14:foregroundMark x1="54325" y1="47685" x2="55394" y2="55271"/>
                        <a14:foregroundMark x1="79592" y1="19212" x2="82896" y2="22266"/>
                        <a14:foregroundMark x1="91059" y1="41970" x2="93294" y2="450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7248" t="5455" r="6025" b="6372"/>
          <a:stretch>
            <a:fillRect/>
          </a:stretch>
        </p:blipFill>
        <p:spPr>
          <a:xfrm>
            <a:off x="3036119" y="2649178"/>
            <a:ext cx="1227043" cy="120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284;p39">
            <a:extLst>
              <a:ext uri="{FF2B5EF4-FFF2-40B4-BE49-F238E27FC236}">
                <a16:creationId xmlns:a16="http://schemas.microsoft.com/office/drawing/2014/main" id="{55539448-D3CA-884E-BBDB-9E3B9AA40B85}"/>
              </a:ext>
            </a:extLst>
          </p:cNvPr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47" b="89800" l="10009" r="84346">
                        <a14:foregroundMark x1="15227" y1="49571" x2="43541" y2="22784"/>
                        <a14:foregroundMark x1="43541" y1="22784" x2="71685" y2="56530"/>
                        <a14:foregroundMark x1="71685" y1="56530" x2="41574" y2="78932"/>
                        <a14:foregroundMark x1="41574" y1="78932" x2="30539" y2="65300"/>
                        <a14:foregroundMark x1="15227" y1="40419" x2="13944" y2="51764"/>
                        <a14:foregroundMark x1="21044" y1="66444" x2="53807" y2="63966"/>
                        <a14:foregroundMark x1="53807" y1="63966" x2="77502" y2="47760"/>
                        <a14:foregroundMark x1="77502" y1="47760" x2="63302" y2="14490"/>
                        <a14:foregroundMark x1="63302" y1="14490" x2="49016" y2="10677"/>
                        <a14:foregroundMark x1="67579" y1="23928" x2="80411" y2="52050"/>
                        <a14:foregroundMark x1="80411" y1="52050" x2="78272" y2="64919"/>
                        <a14:foregroundMark x1="82806" y1="51764" x2="84431" y2="43661"/>
                        <a14:foregroundMark x1="42857" y1="9247" x2="52267" y2="10010"/>
                        <a14:foregroundMark x1="11634" y1="49190" x2="10009" y2="462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9926" r="14210"/>
          <a:stretch>
            <a:fillRect/>
          </a:stretch>
        </p:blipFill>
        <p:spPr>
          <a:xfrm>
            <a:off x="3066065" y="1096147"/>
            <a:ext cx="1227043" cy="1400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Picture 8">
            <a:extLst>
              <a:ext uri="{FF2B5EF4-FFF2-40B4-BE49-F238E27FC236}">
                <a16:creationId xmlns:a16="http://schemas.microsoft.com/office/drawing/2014/main" id="{DD75B407-E098-5007-1F5B-099F51BE62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46" b="99462" l="0" r="97535">
                        <a14:foregroundMark x1="36518" y1="21421" x2="35131" y2="5382"/>
                        <a14:foregroundMark x1="35131" y1="5382" x2="35131" y2="5382"/>
                        <a14:foregroundMark x1="36210" y1="4629" x2="38367" y2="753"/>
                        <a14:foregroundMark x1="46841" y1="35307" x2="48074" y2="35307"/>
                        <a14:foregroundMark x1="48844" y1="35307" x2="49769" y2="35307"/>
                        <a14:foregroundMark x1="49615" y1="47363" x2="50231" y2="47363"/>
                        <a14:foregroundMark x1="50385" y1="35307" x2="50385" y2="35307"/>
                        <a14:foregroundMark x1="21572" y1="41873" x2="21572" y2="42734"/>
                        <a14:foregroundMark x1="22188" y1="41765" x2="22188" y2="41765"/>
                        <a14:foregroundMark x1="21109" y1="44456" x2="21109" y2="44456"/>
                        <a14:foregroundMark x1="20801" y1="43918" x2="20801" y2="43918"/>
                        <a14:foregroundMark x1="20801" y1="43380" x2="20801" y2="43380"/>
                        <a14:foregroundMark x1="20801" y1="43057" x2="20801" y2="43057"/>
                        <a14:foregroundMark x1="20955" y1="44456" x2="20955" y2="44456"/>
                        <a14:foregroundMark x1="26348" y1="93757" x2="32666" y2="94080"/>
                        <a14:foregroundMark x1="27427" y1="86652" x2="30971" y2="49516"/>
                        <a14:foregroundMark x1="4931" y1="94618" x2="79815" y2="95479"/>
                        <a14:foregroundMark x1="79815" y1="95479" x2="97997" y2="95371"/>
                        <a14:foregroundMark x1="3852" y1="98278" x2="64561" y2="99677"/>
                        <a14:foregroundMark x1="0" y1="96233" x2="8937" y2="96340"/>
                        <a14:foregroundMark x1="40062" y1="87513" x2="56549" y2="89559"/>
                        <a14:foregroundMark x1="79661" y1="88805" x2="89060" y2="88052"/>
                        <a14:backgroundMark x1="8320" y1="21313" x2="15408" y2="41658"/>
                        <a14:backgroundMark x1="15408" y1="41658" x2="15408" y2="41873"/>
                        <a14:backgroundMark x1="53313" y1="15823" x2="72419" y2="496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37186" y="3971388"/>
            <a:ext cx="1309034" cy="1875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Google Shape;259;p37">
            <a:extLst>
              <a:ext uri="{FF2B5EF4-FFF2-40B4-BE49-F238E27FC236}">
                <a16:creationId xmlns:a16="http://schemas.microsoft.com/office/drawing/2014/main" id="{46DC4AC0-2092-D6C0-0202-624DA92EE0F9}"/>
              </a:ext>
            </a:extLst>
          </p:cNvPr>
          <p:cNvSpPr/>
          <p:nvPr/>
        </p:nvSpPr>
        <p:spPr>
          <a:xfrm rot="16200000">
            <a:off x="342427" y="4570945"/>
            <a:ext cx="1875058" cy="675941"/>
          </a:xfrm>
          <a:prstGeom prst="triangle">
            <a:avLst>
              <a:gd name="adj" fmla="val 61394"/>
            </a:avLst>
          </a:prstGeom>
          <a:gradFill>
            <a:gsLst>
              <a:gs pos="0">
                <a:srgbClr val="7F7F7F">
                  <a:alpha val="29803"/>
                </a:srgbClr>
              </a:gs>
              <a:gs pos="37000">
                <a:srgbClr val="D0D0D0">
                  <a:alpha val="49803"/>
                </a:srgbClr>
              </a:gs>
              <a:gs pos="79000">
                <a:srgbClr val="FFFFFF">
                  <a:alpha val="49803"/>
                </a:srgbClr>
              </a:gs>
              <a:gs pos="100000">
                <a:srgbClr val="FFFFFF">
                  <a:alpha val="4980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endParaRPr sz="1050">
              <a:solidFill>
                <a:schemeClr val="lt1"/>
              </a:solidFill>
              <a:latin typeface="Helvetica" panose="020B0604020202020204" pitchFamily="34" charset="0"/>
              <a:ea typeface="Arial"/>
              <a:cs typeface="Helvetica" panose="020B0604020202020204" pitchFamily="34" charset="0"/>
              <a:sym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9F9A3D-A407-06FE-81B4-AA23F9F3C1C0}"/>
              </a:ext>
            </a:extLst>
          </p:cNvPr>
          <p:cNvSpPr txBox="1"/>
          <p:nvPr/>
        </p:nvSpPr>
        <p:spPr>
          <a:xfrm>
            <a:off x="391349" y="1004367"/>
            <a:ext cx="2411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Oil &amp; gas development changes landscape structure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564FF6-CF59-F6AE-C239-6B60ED120DB5}"/>
              </a:ext>
            </a:extLst>
          </p:cNvPr>
          <p:cNvSpPr txBox="1"/>
          <p:nvPr/>
        </p:nvSpPr>
        <p:spPr>
          <a:xfrm>
            <a:off x="341343" y="3504416"/>
            <a:ext cx="2524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Red squirrel occurrence measured with camera traps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5743F26-F3F7-F631-A36E-1FF2A5BB2CBD}"/>
              </a:ext>
            </a:extLst>
          </p:cNvPr>
          <p:cNvSpPr txBox="1"/>
          <p:nvPr/>
        </p:nvSpPr>
        <p:spPr>
          <a:xfrm>
            <a:off x="5483195" y="1191413"/>
            <a:ext cx="168317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350" dirty="0">
                <a:latin typeface="Helvetica" panose="020B0604020202020204" pitchFamily="34" charset="0"/>
                <a:cs typeface="Helvetica" panose="020B0604020202020204" pitchFamily="34" charset="0"/>
              </a:rPr>
              <a:t>   Model selection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103625-F888-B234-2D11-78B914640CB6}"/>
              </a:ext>
            </a:extLst>
          </p:cNvPr>
          <p:cNvSpPr txBox="1"/>
          <p:nvPr/>
        </p:nvSpPr>
        <p:spPr>
          <a:xfrm>
            <a:off x="6676813" y="4216629"/>
            <a:ext cx="21269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Helvetica" panose="020B0604020202020204" pitchFamily="34" charset="0"/>
                <a:cs typeface="Helvetica" panose="020B0604020202020204" pitchFamily="34" charset="0"/>
              </a:rPr>
              <a:t>Red squirrels are affected differently by industrial footprint and edge creation, likely due to: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CA" sz="1200" dirty="0">
                <a:latin typeface="Helvetica" panose="020B0604020202020204" pitchFamily="34" charset="0"/>
                <a:cs typeface="Helvetica" panose="020B0604020202020204" pitchFamily="34" charset="0"/>
              </a:rPr>
              <a:t>predation (-)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CA" sz="1200" dirty="0">
                <a:latin typeface="Helvetica" panose="020B0604020202020204" pitchFamily="34" charset="0"/>
                <a:cs typeface="Helvetica" panose="020B0604020202020204" pitchFamily="34" charset="0"/>
              </a:rPr>
              <a:t>resource complementation (+)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D519564-AF84-AC2E-04AD-5A3DCBA351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00775" y="1616904"/>
            <a:ext cx="3764015" cy="2530992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529DE55-1E72-2033-DFEF-33B6DE20D509}"/>
              </a:ext>
            </a:extLst>
          </p:cNvPr>
          <p:cNvCxnSpPr>
            <a:cxnSpLocks/>
            <a:stCxn id="124" idx="3"/>
          </p:cNvCxnSpPr>
          <p:nvPr/>
        </p:nvCxnSpPr>
        <p:spPr>
          <a:xfrm flipV="1">
            <a:off x="4339800" y="3148974"/>
            <a:ext cx="151334" cy="1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564837E-070C-C03E-7586-E388A8D5F84E}"/>
              </a:ext>
            </a:extLst>
          </p:cNvPr>
          <p:cNvCxnSpPr>
            <a:cxnSpLocks/>
            <a:stCxn id="115" idx="3"/>
          </p:cNvCxnSpPr>
          <p:nvPr/>
        </p:nvCxnSpPr>
        <p:spPr>
          <a:xfrm>
            <a:off x="4339799" y="1679476"/>
            <a:ext cx="158564" cy="0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E4B2B03-9898-8DB8-C53F-EC9EA4FA3824}"/>
              </a:ext>
            </a:extLst>
          </p:cNvPr>
          <p:cNvCxnSpPr>
            <a:cxnSpLocks/>
          </p:cNvCxnSpPr>
          <p:nvPr/>
        </p:nvCxnSpPr>
        <p:spPr>
          <a:xfrm>
            <a:off x="6275471" y="1417205"/>
            <a:ext cx="0" cy="207225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F034DF8A-5F3E-7462-E529-69C557721594}"/>
              </a:ext>
            </a:extLst>
          </p:cNvPr>
          <p:cNvSpPr txBox="1"/>
          <p:nvPr/>
        </p:nvSpPr>
        <p:spPr>
          <a:xfrm>
            <a:off x="3139626" y="2435880"/>
            <a:ext cx="1331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Composition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2F89671-6048-A560-198A-C9183FECB463}"/>
              </a:ext>
            </a:extLst>
          </p:cNvPr>
          <p:cNvSpPr txBox="1"/>
          <p:nvPr/>
        </p:nvSpPr>
        <p:spPr>
          <a:xfrm>
            <a:off x="3120766" y="943299"/>
            <a:ext cx="1331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Configuration</a:t>
            </a:r>
          </a:p>
        </p:txBody>
      </p:sp>
      <p:sp>
        <p:nvSpPr>
          <p:cNvPr id="99" name="Arrow: Bent 98">
            <a:extLst>
              <a:ext uri="{FF2B5EF4-FFF2-40B4-BE49-F238E27FC236}">
                <a16:creationId xmlns:a16="http://schemas.microsoft.com/office/drawing/2014/main" id="{114894C0-4F4A-7217-432F-8CBD552294C9}"/>
              </a:ext>
            </a:extLst>
          </p:cNvPr>
          <p:cNvSpPr/>
          <p:nvPr/>
        </p:nvSpPr>
        <p:spPr>
          <a:xfrm>
            <a:off x="4481743" y="1274920"/>
            <a:ext cx="1190341" cy="2994219"/>
          </a:xfrm>
          <a:prstGeom prst="bentArrow">
            <a:avLst>
              <a:gd name="adj1" fmla="val 1931"/>
              <a:gd name="adj2" fmla="val 4836"/>
              <a:gd name="adj3" fmla="val 10920"/>
              <a:gd name="adj4" fmla="val 24066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6" name="Arrow: Bent 105">
            <a:extLst>
              <a:ext uri="{FF2B5EF4-FFF2-40B4-BE49-F238E27FC236}">
                <a16:creationId xmlns:a16="http://schemas.microsoft.com/office/drawing/2014/main" id="{796908D5-1572-A980-3711-876997890FB1}"/>
              </a:ext>
            </a:extLst>
          </p:cNvPr>
          <p:cNvSpPr/>
          <p:nvPr/>
        </p:nvSpPr>
        <p:spPr>
          <a:xfrm flipH="1" flipV="1">
            <a:off x="2800569" y="4239161"/>
            <a:ext cx="1702688" cy="1090863"/>
          </a:xfrm>
          <a:prstGeom prst="bentArrow">
            <a:avLst>
              <a:gd name="adj1" fmla="val 2194"/>
              <a:gd name="adj2" fmla="val 5255"/>
              <a:gd name="adj3" fmla="val 13768"/>
              <a:gd name="adj4" fmla="val 38146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6" name="Google Shape;261;p37" title="jump.JPG">
            <a:extLst>
              <a:ext uri="{FF2B5EF4-FFF2-40B4-BE49-F238E27FC236}">
                <a16:creationId xmlns:a16="http://schemas.microsoft.com/office/drawing/2014/main" id="{BA832FFE-EAF2-D376-6BDA-29D21198D8E8}"/>
              </a:ext>
            </a:extLst>
          </p:cNvPr>
          <p:cNvPicPr preferRelativeResize="0"/>
          <p:nvPr/>
        </p:nvPicPr>
        <p:blipFill>
          <a:blip r:embed="rId9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852"/>
          <a:stretch>
            <a:fillRect/>
          </a:stretch>
        </p:blipFill>
        <p:spPr>
          <a:xfrm>
            <a:off x="1617923" y="3971388"/>
            <a:ext cx="2610365" cy="18750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Connector: Curved 107">
            <a:extLst>
              <a:ext uri="{FF2B5EF4-FFF2-40B4-BE49-F238E27FC236}">
                <a16:creationId xmlns:a16="http://schemas.microsoft.com/office/drawing/2014/main" id="{2963445A-CDFF-E51E-4D33-13BDA9CD24A9}"/>
              </a:ext>
            </a:extLst>
          </p:cNvPr>
          <p:cNvCxnSpPr>
            <a:cxnSpLocks/>
            <a:endCxn id="115" idx="1"/>
          </p:cNvCxnSpPr>
          <p:nvPr/>
        </p:nvCxnSpPr>
        <p:spPr>
          <a:xfrm flipV="1">
            <a:off x="2769519" y="1679476"/>
            <a:ext cx="238687" cy="715610"/>
          </a:xfrm>
          <a:prstGeom prst="curvedConnector3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Curved 109">
            <a:extLst>
              <a:ext uri="{FF2B5EF4-FFF2-40B4-BE49-F238E27FC236}">
                <a16:creationId xmlns:a16="http://schemas.microsoft.com/office/drawing/2014/main" id="{37023839-1C38-AD59-E0FA-14981E2C8527}"/>
              </a:ext>
            </a:extLst>
          </p:cNvPr>
          <p:cNvCxnSpPr>
            <a:cxnSpLocks/>
            <a:endCxn id="124" idx="1"/>
          </p:cNvCxnSpPr>
          <p:nvPr/>
        </p:nvCxnSpPr>
        <p:spPr>
          <a:xfrm>
            <a:off x="2769519" y="2395086"/>
            <a:ext cx="238687" cy="753889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57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C889C-0937-7082-784B-5F0A29428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04CEE827-FA3B-D6A9-72D7-FA5CBFBC3875}"/>
              </a:ext>
            </a:extLst>
          </p:cNvPr>
          <p:cNvSpPr/>
          <p:nvPr/>
        </p:nvSpPr>
        <p:spPr>
          <a:xfrm>
            <a:off x="173950" y="3687679"/>
            <a:ext cx="4097576" cy="2270099"/>
          </a:xfrm>
          <a:prstGeom prst="roundRect">
            <a:avLst>
              <a:gd name="adj" fmla="val 8590"/>
            </a:avLst>
          </a:prstGeom>
          <a:solidFill>
            <a:srgbClr val="F6F6F6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B51A5EBF-D43A-A162-664A-D5819C8CD102}"/>
              </a:ext>
            </a:extLst>
          </p:cNvPr>
          <p:cNvSpPr/>
          <p:nvPr/>
        </p:nvSpPr>
        <p:spPr>
          <a:xfrm>
            <a:off x="145463" y="204890"/>
            <a:ext cx="4264389" cy="3336131"/>
          </a:xfrm>
          <a:prstGeom prst="roundRect">
            <a:avLst>
              <a:gd name="adj" fmla="val 8590"/>
            </a:avLst>
          </a:prstGeom>
          <a:solidFill>
            <a:srgbClr val="F6F6F6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7703161F-8872-C7FE-A8D3-7F524B1A3C88}"/>
              </a:ext>
            </a:extLst>
          </p:cNvPr>
          <p:cNvSpPr/>
          <p:nvPr/>
        </p:nvSpPr>
        <p:spPr>
          <a:xfrm>
            <a:off x="4734150" y="686193"/>
            <a:ext cx="4224825" cy="5267394"/>
          </a:xfrm>
          <a:prstGeom prst="roundRect">
            <a:avLst>
              <a:gd name="adj" fmla="val 453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156D5D14-ED8C-8F5D-9C05-DBCC191FBBB3}"/>
              </a:ext>
            </a:extLst>
          </p:cNvPr>
          <p:cNvSpPr/>
          <p:nvPr/>
        </p:nvSpPr>
        <p:spPr>
          <a:xfrm>
            <a:off x="2854211" y="2090971"/>
            <a:ext cx="1331337" cy="137698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A1F0D5B2-3148-B268-FBE0-76820D3D39ED}"/>
              </a:ext>
            </a:extLst>
          </p:cNvPr>
          <p:cNvSpPr/>
          <p:nvPr/>
        </p:nvSpPr>
        <p:spPr>
          <a:xfrm>
            <a:off x="2853954" y="617284"/>
            <a:ext cx="1331594" cy="140024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8" name="Google Shape;283;p39">
            <a:extLst>
              <a:ext uri="{FF2B5EF4-FFF2-40B4-BE49-F238E27FC236}">
                <a16:creationId xmlns:a16="http://schemas.microsoft.com/office/drawing/2014/main" id="{F32B46B5-3EEB-2F56-AB87-8FDDE37244A9}"/>
              </a:ext>
            </a:extLst>
          </p:cNvPr>
          <p:cNvPicPr preferRelativeResize="0"/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73" b="90148" l="8552" r="93294">
                        <a14:foregroundMark x1="13800" y1="63251" x2="29640" y2="24039"/>
                        <a14:foregroundMark x1="29640" y1="24039" x2="75024" y2="26010"/>
                        <a14:foregroundMark x1="75024" y1="26010" x2="76676" y2="75567"/>
                        <a14:foregroundMark x1="76676" y1="75567" x2="46842" y2="85911"/>
                        <a14:foregroundMark x1="46842" y1="85911" x2="40525" y2="81182"/>
                        <a14:foregroundMark x1="33528" y1="76946" x2="23032" y2="23842"/>
                        <a14:foregroundMark x1="23032" y1="23842" x2="49077" y2="41970"/>
                        <a14:foregroundMark x1="49077" y1="70936" x2="49077" y2="39704"/>
                        <a14:foregroundMark x1="49077" y1="39704" x2="49077" y2="39704"/>
                        <a14:foregroundMark x1="39845" y1="51527" x2="42371" y2="69754"/>
                        <a14:foregroundMark x1="24976" y1="24926" x2="21672" y2="56059"/>
                        <a14:foregroundMark x1="21672" y1="56059" x2="22741" y2="58719"/>
                        <a14:foregroundMark x1="12342" y1="35567" x2="23032" y2="71330"/>
                        <a14:foregroundMark x1="23032" y1="71330" x2="33139" y2="81872"/>
                        <a14:foregroundMark x1="33139" y1="81872" x2="74247" y2="78325"/>
                        <a14:foregroundMark x1="74247" y1="78325" x2="76190" y2="76946"/>
                        <a14:foregroundMark x1="79592" y1="71232" x2="83285" y2="45025"/>
                        <a14:foregroundMark x1="85131" y1="40887" x2="86200" y2="65616"/>
                        <a14:foregroundMark x1="84354" y1="67488" x2="75802" y2="20296"/>
                        <a14:foregroundMark x1="69485" y1="17340" x2="44606" y2="45419"/>
                        <a14:foregroundMark x1="44606" y1="45419" x2="44218" y2="47291"/>
                        <a14:foregroundMark x1="45384" y1="53005" x2="69485" y2="81576"/>
                        <a14:foregroundMark x1="74733" y1="77734" x2="63557" y2="35567"/>
                        <a14:foregroundMark x1="60253" y1="33990" x2="49466" y2="38227"/>
                        <a14:foregroundMark x1="42760" y1="44335" x2="31293" y2="82266"/>
                        <a14:foregroundMark x1="31293" y1="82266" x2="31293" y2="83054"/>
                        <a14:foregroundMark x1="35374" y1="83054" x2="53936" y2="85714"/>
                        <a14:foregroundMark x1="56171" y1="87980" x2="71720" y2="83448"/>
                        <a14:foregroundMark x1="66181" y1="87586" x2="80272" y2="73892"/>
                        <a14:foregroundMark x1="81438" y1="73596" x2="88338" y2="45419"/>
                        <a14:foregroundMark x1="88338" y1="45419" x2="68707" y2="15961"/>
                        <a14:foregroundMark x1="68707" y1="15961" x2="37415" y2="11823"/>
                        <a14:foregroundMark x1="37415" y1="11823" x2="37221" y2="12020"/>
                        <a14:foregroundMark x1="41302" y1="11232" x2="56560" y2="9655"/>
                        <a14:foregroundMark x1="12634" y1="37438" x2="13022" y2="60985"/>
                        <a14:foregroundMark x1="11953" y1="52315" x2="10787" y2="38916"/>
                        <a14:foregroundMark x1="11176" y1="45813" x2="20408" y2="77241"/>
                        <a14:foregroundMark x1="20408" y1="77241" x2="47036" y2="89754"/>
                        <a14:foregroundMark x1="47036" y1="89754" x2="52089" y2="90246"/>
                        <a14:foregroundMark x1="39845" y1="46601" x2="68610" y2="61182"/>
                        <a14:foregroundMark x1="68610" y1="61182" x2="67250" y2="62167"/>
                        <a14:foregroundMark x1="62877" y1="56453" x2="52089" y2="33990"/>
                        <a14:foregroundMark x1="52089" y1="33990" x2="33528" y2="52611"/>
                        <a14:foregroundMark x1="37609" y1="64828" x2="29738" y2="27980"/>
                        <a14:foregroundMark x1="17493" y1="33990" x2="38095" y2="12118"/>
                        <a14:foregroundMark x1="38095" y1="12118" x2="39456" y2="11626"/>
                        <a14:foregroundMark x1="36054" y1="13103" x2="17493" y2="31724"/>
                        <a14:foregroundMark x1="20117" y1="27192" x2="29057" y2="18030"/>
                        <a14:foregroundMark x1="30126" y1="13103" x2="25267" y2="20690"/>
                        <a14:foregroundMark x1="48299" y1="8571" x2="53547" y2="9655"/>
                        <a14:foregroundMark x1="71040" y1="15764" x2="88047" y2="50739"/>
                        <a14:foregroundMark x1="88047" y1="50739" x2="84742" y2="69360"/>
                        <a14:foregroundMark x1="69193" y1="64039" x2="70651" y2="42759"/>
                        <a14:foregroundMark x1="49077" y1="59113" x2="38290" y2="73202"/>
                        <a14:foregroundMark x1="38678" y1="73596" x2="70262" y2="69754"/>
                        <a14:foregroundMark x1="88144" y1="62562" x2="89990" y2="45419"/>
                        <a14:foregroundMark x1="69874" y1="15369" x2="88824" y2="37537"/>
                        <a14:foregroundMark x1="88824" y1="37537" x2="89990" y2="41281"/>
                        <a14:foregroundMark x1="79592" y1="21872" x2="81050" y2="24532"/>
                        <a14:foregroundMark x1="72886" y1="15764" x2="86589" y2="31724"/>
                        <a14:foregroundMark x1="75510" y1="16946" x2="86589" y2="30246"/>
                        <a14:foregroundMark x1="90282" y1="40887" x2="91059" y2="56059"/>
                        <a14:foregroundMark x1="22741" y1="16552" x2="23810" y2="16552"/>
                        <a14:foregroundMark x1="14869" y1="26010" x2="16424" y2="24532"/>
                        <a14:foregroundMark x1="80272" y1="79606" x2="81050" y2="78128"/>
                        <a14:foregroundMark x1="11565" y1="65911" x2="11565" y2="65911"/>
                        <a14:foregroundMark x1="9329" y1="57931" x2="8552" y2="56059"/>
                        <a14:foregroundMark x1="61322" y1="60296" x2="61710" y2="66305"/>
                        <a14:foregroundMark x1="78037" y1="47685" x2="81438" y2="62562"/>
                        <a14:foregroundMark x1="81827" y1="59113" x2="90282" y2="42365"/>
                        <a14:foregroundMark x1="81050" y1="50739" x2="81050" y2="54975"/>
                        <a14:foregroundMark x1="48008" y1="39310" x2="48299" y2="59113"/>
                        <a14:foregroundMark x1="49854" y1="46207" x2="58406" y2="51133"/>
                        <a14:foregroundMark x1="54325" y1="47685" x2="55394" y2="55271"/>
                        <a14:foregroundMark x1="79592" y1="19212" x2="82896" y2="22266"/>
                        <a14:foregroundMark x1="91059" y1="41970" x2="93294" y2="450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7248" t="5455" r="6025" b="6372"/>
          <a:stretch>
            <a:fillRect/>
          </a:stretch>
        </p:blipFill>
        <p:spPr>
          <a:xfrm>
            <a:off x="2896361" y="2261185"/>
            <a:ext cx="1227043" cy="120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284;p39">
            <a:extLst>
              <a:ext uri="{FF2B5EF4-FFF2-40B4-BE49-F238E27FC236}">
                <a16:creationId xmlns:a16="http://schemas.microsoft.com/office/drawing/2014/main" id="{2F1DC606-A228-F11B-B738-44D98870F583}"/>
              </a:ext>
            </a:extLst>
          </p:cNvPr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47" b="89800" l="10009" r="84346">
                        <a14:foregroundMark x1="15227" y1="49571" x2="43541" y2="22784"/>
                        <a14:foregroundMark x1="43541" y1="22784" x2="71685" y2="56530"/>
                        <a14:foregroundMark x1="71685" y1="56530" x2="41574" y2="78932"/>
                        <a14:foregroundMark x1="41574" y1="78932" x2="30539" y2="65300"/>
                        <a14:foregroundMark x1="15227" y1="40419" x2="13944" y2="51764"/>
                        <a14:foregroundMark x1="21044" y1="66444" x2="53807" y2="63966"/>
                        <a14:foregroundMark x1="53807" y1="63966" x2="77502" y2="47760"/>
                        <a14:foregroundMark x1="77502" y1="47760" x2="63302" y2="14490"/>
                        <a14:foregroundMark x1="63302" y1="14490" x2="49016" y2="10677"/>
                        <a14:foregroundMark x1="67579" y1="23928" x2="80411" y2="52050"/>
                        <a14:foregroundMark x1="80411" y1="52050" x2="78272" y2="64919"/>
                        <a14:foregroundMark x1="82806" y1="51764" x2="84431" y2="43661"/>
                        <a14:foregroundMark x1="42857" y1="9247" x2="52267" y2="10010"/>
                        <a14:foregroundMark x1="11634" y1="49190" x2="10009" y2="462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9926" r="14210"/>
          <a:stretch>
            <a:fillRect/>
          </a:stretch>
        </p:blipFill>
        <p:spPr>
          <a:xfrm>
            <a:off x="2897539" y="748009"/>
            <a:ext cx="1227043" cy="1400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Picture 8">
            <a:extLst>
              <a:ext uri="{FF2B5EF4-FFF2-40B4-BE49-F238E27FC236}">
                <a16:creationId xmlns:a16="http://schemas.microsoft.com/office/drawing/2014/main" id="{DD66244D-DA5F-7FDB-F42F-513EF0967F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46" b="99462" l="0" r="97535">
                        <a14:foregroundMark x1="36518" y1="21421" x2="35131" y2="5382"/>
                        <a14:foregroundMark x1="35131" y1="5382" x2="35131" y2="5382"/>
                        <a14:foregroundMark x1="36210" y1="4629" x2="38367" y2="753"/>
                        <a14:foregroundMark x1="46841" y1="35307" x2="48074" y2="35307"/>
                        <a14:foregroundMark x1="48844" y1="35307" x2="49769" y2="35307"/>
                        <a14:foregroundMark x1="49615" y1="47363" x2="50231" y2="47363"/>
                        <a14:foregroundMark x1="50385" y1="35307" x2="50385" y2="35307"/>
                        <a14:foregroundMark x1="21572" y1="41873" x2="21572" y2="42734"/>
                        <a14:foregroundMark x1="22188" y1="41765" x2="22188" y2="41765"/>
                        <a14:foregroundMark x1="21109" y1="44456" x2="21109" y2="44456"/>
                        <a14:foregroundMark x1="20801" y1="43918" x2="20801" y2="43918"/>
                        <a14:foregroundMark x1="20801" y1="43380" x2="20801" y2="43380"/>
                        <a14:foregroundMark x1="20801" y1="43057" x2="20801" y2="43057"/>
                        <a14:foregroundMark x1="20955" y1="44456" x2="20955" y2="44456"/>
                        <a14:foregroundMark x1="26348" y1="93757" x2="32666" y2="94080"/>
                        <a14:foregroundMark x1="27427" y1="86652" x2="30971" y2="49516"/>
                        <a14:foregroundMark x1="4931" y1="94618" x2="79815" y2="95479"/>
                        <a14:foregroundMark x1="79815" y1="95479" x2="97997" y2="95371"/>
                        <a14:foregroundMark x1="3852" y1="98278" x2="64561" y2="99677"/>
                        <a14:foregroundMark x1="0" y1="96233" x2="8937" y2="96340"/>
                        <a14:foregroundMark x1="40062" y1="87513" x2="56549" y2="89559"/>
                        <a14:foregroundMark x1="79661" y1="88805" x2="89060" y2="88052"/>
                        <a14:backgroundMark x1="8320" y1="21313" x2="15408" y2="41658"/>
                        <a14:backgroundMark x1="15408" y1="41658" x2="15408" y2="41873"/>
                        <a14:backgroundMark x1="53313" y1="15823" x2="72419" y2="496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36864" y="3994502"/>
            <a:ext cx="1309034" cy="1875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Google Shape;259;p37">
            <a:extLst>
              <a:ext uri="{FF2B5EF4-FFF2-40B4-BE49-F238E27FC236}">
                <a16:creationId xmlns:a16="http://schemas.microsoft.com/office/drawing/2014/main" id="{1D906270-4789-EB0A-CD28-0B0EB568CDDB}"/>
              </a:ext>
            </a:extLst>
          </p:cNvPr>
          <p:cNvSpPr/>
          <p:nvPr/>
        </p:nvSpPr>
        <p:spPr>
          <a:xfrm rot="16200000">
            <a:off x="342105" y="4594059"/>
            <a:ext cx="1875058" cy="675941"/>
          </a:xfrm>
          <a:prstGeom prst="triangle">
            <a:avLst>
              <a:gd name="adj" fmla="val 61394"/>
            </a:avLst>
          </a:prstGeom>
          <a:gradFill>
            <a:gsLst>
              <a:gs pos="0">
                <a:srgbClr val="7F7F7F">
                  <a:alpha val="29803"/>
                </a:srgbClr>
              </a:gs>
              <a:gs pos="37000">
                <a:srgbClr val="D0D0D0">
                  <a:alpha val="49803"/>
                </a:srgbClr>
              </a:gs>
              <a:gs pos="79000">
                <a:srgbClr val="FFFFFF">
                  <a:alpha val="49803"/>
                </a:srgbClr>
              </a:gs>
              <a:gs pos="100000">
                <a:srgbClr val="FFFFFF">
                  <a:alpha val="4980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algn="ctr"/>
            <a:endParaRPr sz="1050">
              <a:solidFill>
                <a:schemeClr val="lt1"/>
              </a:solidFill>
              <a:latin typeface="Helvetica" panose="020B0604020202020204" pitchFamily="34" charset="0"/>
              <a:ea typeface="Arial"/>
              <a:cs typeface="Helvetica" panose="020B0604020202020204" pitchFamily="34" charset="0"/>
              <a:sym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7B0C99-4C5E-B449-A855-6361965D1255}"/>
              </a:ext>
            </a:extLst>
          </p:cNvPr>
          <p:cNvSpPr txBox="1"/>
          <p:nvPr/>
        </p:nvSpPr>
        <p:spPr>
          <a:xfrm>
            <a:off x="311821" y="250282"/>
            <a:ext cx="4098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Oil &amp; gas development changes landscape structure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1CC3A6-9D61-3C14-B197-1F8585ECA8F4}"/>
              </a:ext>
            </a:extLst>
          </p:cNvPr>
          <p:cNvSpPr txBox="1"/>
          <p:nvPr/>
        </p:nvSpPr>
        <p:spPr>
          <a:xfrm>
            <a:off x="218412" y="3702919"/>
            <a:ext cx="4053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Red squirrel occurrence measured with camera traps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31075F3-E19C-3E2C-108A-DA8C0C1ACBCE}"/>
              </a:ext>
            </a:extLst>
          </p:cNvPr>
          <p:cNvSpPr/>
          <p:nvPr/>
        </p:nvSpPr>
        <p:spPr>
          <a:xfrm>
            <a:off x="-4204333" y="3366200"/>
            <a:ext cx="4025498" cy="5961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4D4196D-14AA-F4FB-8B51-932B841DBD8E}"/>
              </a:ext>
            </a:extLst>
          </p:cNvPr>
          <p:cNvCxnSpPr>
            <a:cxnSpLocks/>
            <a:stCxn id="124" idx="3"/>
          </p:cNvCxnSpPr>
          <p:nvPr/>
        </p:nvCxnSpPr>
        <p:spPr>
          <a:xfrm>
            <a:off x="4185548" y="2779466"/>
            <a:ext cx="361252" cy="0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2EBC456-CDA8-B7E3-D1C9-F89D191985A7}"/>
              </a:ext>
            </a:extLst>
          </p:cNvPr>
          <p:cNvCxnSpPr>
            <a:cxnSpLocks/>
            <a:stCxn id="115" idx="3"/>
          </p:cNvCxnSpPr>
          <p:nvPr/>
        </p:nvCxnSpPr>
        <p:spPr>
          <a:xfrm>
            <a:off x="4185548" y="1317406"/>
            <a:ext cx="386452" cy="0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2B78B75-527E-0426-27B7-BA776A08E9D5}"/>
              </a:ext>
            </a:extLst>
          </p:cNvPr>
          <p:cNvSpPr txBox="1"/>
          <p:nvPr/>
        </p:nvSpPr>
        <p:spPr>
          <a:xfrm>
            <a:off x="2947769" y="2067000"/>
            <a:ext cx="1331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Composition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903B84C-3D4B-7BD7-9982-2B010404D91E}"/>
              </a:ext>
            </a:extLst>
          </p:cNvPr>
          <p:cNvSpPr txBox="1"/>
          <p:nvPr/>
        </p:nvSpPr>
        <p:spPr>
          <a:xfrm>
            <a:off x="2966514" y="581229"/>
            <a:ext cx="1331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Configuration</a:t>
            </a:r>
          </a:p>
        </p:txBody>
      </p:sp>
      <p:pic>
        <p:nvPicPr>
          <p:cNvPr id="36" name="Google Shape;261;p37" title="jump.JPG">
            <a:extLst>
              <a:ext uri="{FF2B5EF4-FFF2-40B4-BE49-F238E27FC236}">
                <a16:creationId xmlns:a16="http://schemas.microsoft.com/office/drawing/2014/main" id="{6D9CF6B3-5620-8CE9-DA95-322621D804C2}"/>
              </a:ext>
            </a:extLst>
          </p:cNvPr>
          <p:cNvPicPr preferRelativeResize="0"/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852"/>
          <a:stretch>
            <a:fillRect/>
          </a:stretch>
        </p:blipFill>
        <p:spPr>
          <a:xfrm>
            <a:off x="1575183" y="3994501"/>
            <a:ext cx="2610365" cy="1875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72;p38">
            <a:extLst>
              <a:ext uri="{FF2B5EF4-FFF2-40B4-BE49-F238E27FC236}">
                <a16:creationId xmlns:a16="http://schemas.microsoft.com/office/drawing/2014/main" id="{3D5E869F-C120-CEAF-4B74-8A7F34C4FA5C}"/>
              </a:ext>
            </a:extLst>
          </p:cNvPr>
          <p:cNvPicPr preferRelativeResize="0"/>
          <p:nvPr/>
        </p:nvPicPr>
        <p:blipFill rotWithShape="1">
          <a:blip r:embed="rId9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9710" y="686193"/>
            <a:ext cx="2515511" cy="25423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09B9CB7-5B71-0D43-0743-ABA7210FDFBB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4185548" y="431188"/>
            <a:ext cx="625955" cy="4500842"/>
          </a:xfrm>
          <a:prstGeom prst="bentConnector3">
            <a:avLst>
              <a:gd name="adj1" fmla="val 60145"/>
            </a:avLst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5AC70902-01E4-6BB5-6BAE-C38737FE91A5}"/>
              </a:ext>
            </a:extLst>
          </p:cNvPr>
          <p:cNvCxnSpPr>
            <a:cxnSpLocks/>
            <a:endCxn id="128" idx="0"/>
          </p:cNvCxnSpPr>
          <p:nvPr/>
        </p:nvCxnSpPr>
        <p:spPr>
          <a:xfrm>
            <a:off x="6203950" y="431188"/>
            <a:ext cx="642613" cy="255005"/>
          </a:xfrm>
          <a:prstGeom prst="bentConnector2">
            <a:avLst/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D713ABA-55BA-13BE-17CD-46862B7AEAD3}"/>
              </a:ext>
            </a:extLst>
          </p:cNvPr>
          <p:cNvCxnSpPr>
            <a:cxnSpLocks/>
            <a:stCxn id="5" idx="3"/>
            <a:endCxn id="115" idx="1"/>
          </p:cNvCxnSpPr>
          <p:nvPr/>
        </p:nvCxnSpPr>
        <p:spPr>
          <a:xfrm flipV="1">
            <a:off x="2685221" y="1317406"/>
            <a:ext cx="168733" cy="639941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79350FB-A3DA-6B02-0457-19B28162A38F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685221" y="1957347"/>
            <a:ext cx="162150" cy="64264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0" name="Picture 79">
            <a:extLst>
              <a:ext uri="{FF2B5EF4-FFF2-40B4-BE49-F238E27FC236}">
                <a16:creationId xmlns:a16="http://schemas.microsoft.com/office/drawing/2014/main" id="{A9B16F0D-F496-88F7-8FB7-49B13ADCBD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2980" y="784396"/>
            <a:ext cx="3967164" cy="3272911"/>
          </a:xfrm>
          <a:prstGeom prst="rect">
            <a:avLst/>
          </a:prstGeom>
        </p:spPr>
      </p:pic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00E20AA1-BCBD-0A7A-DF87-03596911FCA7}"/>
              </a:ext>
            </a:extLst>
          </p:cNvPr>
          <p:cNvSpPr/>
          <p:nvPr/>
        </p:nvSpPr>
        <p:spPr>
          <a:xfrm>
            <a:off x="6988587" y="4175072"/>
            <a:ext cx="1788731" cy="58612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BB8C6A6-1721-4A9B-6CD0-EC5681E7709F}"/>
              </a:ext>
            </a:extLst>
          </p:cNvPr>
          <p:cNvSpPr/>
          <p:nvPr/>
        </p:nvSpPr>
        <p:spPr>
          <a:xfrm>
            <a:off x="4916358" y="4175072"/>
            <a:ext cx="1774764" cy="5861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88177B31-5A26-15CA-377E-6258F1546CFB}"/>
              </a:ext>
            </a:extLst>
          </p:cNvPr>
          <p:cNvSpPr/>
          <p:nvPr/>
        </p:nvSpPr>
        <p:spPr>
          <a:xfrm>
            <a:off x="4811503" y="265599"/>
            <a:ext cx="1524000" cy="32239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Selection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8B4C2C-A1E2-B2A8-DA37-DBEBB1E7C108}"/>
              </a:ext>
            </a:extLst>
          </p:cNvPr>
          <p:cNvSpPr txBox="1"/>
          <p:nvPr/>
        </p:nvSpPr>
        <p:spPr>
          <a:xfrm>
            <a:off x="5055403" y="4130418"/>
            <a:ext cx="1648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Footprint effect (+)	</a:t>
            </a:r>
            <a:r>
              <a:rPr lang="en-CA" sz="1200" b="1" dirty="0">
                <a:latin typeface="Helvetica" panose="020B0604020202020204" pitchFamily="34" charset="0"/>
                <a:cs typeface="Helvetica" panose="020B0604020202020204" pitchFamily="34" charset="0"/>
              </a:rPr>
              <a:t>		</a:t>
            </a:r>
            <a:endParaRPr lang="en-CA" sz="1200" b="1" dirty="0">
              <a:solidFill>
                <a:schemeClr val="accent2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0FFE4DE-ED9A-ED57-2114-4B4284ADA440}"/>
              </a:ext>
            </a:extLst>
          </p:cNvPr>
          <p:cNvSpPr txBox="1"/>
          <p:nvPr/>
        </p:nvSpPr>
        <p:spPr>
          <a:xfrm>
            <a:off x="4909374" y="4304370"/>
            <a:ext cx="1788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dirty="0">
                <a:latin typeface="Helvetica" panose="020B0604020202020204" pitchFamily="34" charset="0"/>
                <a:cs typeface="Helvetica" panose="020B0604020202020204" pitchFamily="34" charset="0"/>
              </a:rPr>
              <a:t>Resource complementation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A53C5B0-6A58-7C2B-6A42-468496641F05}"/>
              </a:ext>
            </a:extLst>
          </p:cNvPr>
          <p:cNvSpPr txBox="1"/>
          <p:nvPr/>
        </p:nvSpPr>
        <p:spPr>
          <a:xfrm>
            <a:off x="7458821" y="4426321"/>
            <a:ext cx="9679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latin typeface="Helvetica" panose="020B0604020202020204" pitchFamily="34" charset="0"/>
                <a:cs typeface="Helvetica" panose="020B0604020202020204" pitchFamily="34" charset="0"/>
              </a:rPr>
              <a:t>Predation</a:t>
            </a:r>
            <a:endParaRPr lang="en-CA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EA42FC6-6EF6-AF2E-9B97-6A6FD8674BF0}"/>
              </a:ext>
            </a:extLst>
          </p:cNvPr>
          <p:cNvSpPr txBox="1"/>
          <p:nvPr/>
        </p:nvSpPr>
        <p:spPr>
          <a:xfrm>
            <a:off x="7277143" y="4184347"/>
            <a:ext cx="13313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1" dirty="0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Edge effect (–) </a:t>
            </a:r>
            <a:endParaRPr lang="en-CA" dirty="0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F1A5DB4-6A11-6C57-C3E5-A5ADBB530CD9}"/>
              </a:ext>
            </a:extLst>
          </p:cNvPr>
          <p:cNvCxnSpPr>
            <a:cxnSpLocks/>
          </p:cNvCxnSpPr>
          <p:nvPr/>
        </p:nvCxnSpPr>
        <p:spPr>
          <a:xfrm>
            <a:off x="6535785" y="4604783"/>
            <a:ext cx="103362" cy="317663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84A2773B-819E-BFE9-3915-289A4E66F51F}"/>
              </a:ext>
            </a:extLst>
          </p:cNvPr>
          <p:cNvSpPr txBox="1"/>
          <p:nvPr/>
        </p:nvSpPr>
        <p:spPr>
          <a:xfrm>
            <a:off x="5214010" y="4947794"/>
            <a:ext cx="376929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The negative ecological impact of edge creation is context-dependent, intensifying as the cumulative industrial footprint in the surrounding landscape increases.</a:t>
            </a:r>
            <a:endParaRPr lang="en-CA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2A7ACAF-7E86-7604-40BC-71260EEE0246}"/>
              </a:ext>
            </a:extLst>
          </p:cNvPr>
          <p:cNvCxnSpPr>
            <a:cxnSpLocks/>
          </p:cNvCxnSpPr>
          <p:nvPr/>
        </p:nvCxnSpPr>
        <p:spPr>
          <a:xfrm flipH="1">
            <a:off x="6966908" y="4596489"/>
            <a:ext cx="110989" cy="325957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7" name="Google Shape;574;p58">
            <a:extLst>
              <a:ext uri="{FF2B5EF4-FFF2-40B4-BE49-F238E27FC236}">
                <a16:creationId xmlns:a16="http://schemas.microsoft.com/office/drawing/2014/main" id="{AD849B08-7E98-E5CB-A62D-B16C0130CB56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40138" y="5209743"/>
            <a:ext cx="398201" cy="3686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337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439</TotalTime>
  <Words>132</Words>
  <Application>Microsoft Office PowerPoint</Application>
  <PresentationFormat>On-screen Show (4:3)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Aidan Brushett</dc:creator>
  <cp:lastModifiedBy>Aidan Brushett</cp:lastModifiedBy>
  <cp:revision>4</cp:revision>
  <dcterms:created xsi:type="dcterms:W3CDTF">2026-08-23T22:46:58Z</dcterms:created>
  <dcterms:modified xsi:type="dcterms:W3CDTF">2026-08-25T00:16:29Z</dcterms:modified>
</cp:coreProperties>
</file>